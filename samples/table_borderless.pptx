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1-txt1"/>
          <p:cNvSpPr txBox="1"/>
          <p:nvPr/>
        </p:nvSpPr>
        <p:spPr>
          <a:xfrm>
            <a:off x="711200" y="484378"/>
            <a:ext cx="1966290" cy="2400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Borderless layout table</a:t>
            </a:r>
          </a:p>
        </p:txBody>
      </p:sp>
      <p:sp>
        <p:nvSpPr>
          <p:cNvPr id="4" name="Text p1-txt2"/>
          <p:cNvSpPr txBox="1"/>
          <p:nvPr/>
        </p:nvSpPr>
        <p:spPr>
          <a:xfrm>
            <a:off x="711200" y="1030097"/>
            <a:ext cx="287223" cy="1885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Helvetica"/>
                <a:ea typeface="Helvetica"/>
                <a:cs typeface="Helvetica"/>
              </a:rPr>
              <a:t>Item</a:t>
            </a:r>
          </a:p>
        </p:txBody>
      </p:sp>
      <p:sp>
        <p:nvSpPr>
          <p:cNvPr id="5" name="Text p1-txt3"/>
          <p:cNvSpPr txBox="1"/>
          <p:nvPr/>
        </p:nvSpPr>
        <p:spPr>
          <a:xfrm>
            <a:off x="2794000" y="1030097"/>
            <a:ext cx="434746" cy="1885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Helvetica"/>
                <a:ea typeface="Helvetica"/>
                <a:cs typeface="Helvetica"/>
              </a:rPr>
              <a:t>Owner</a:t>
            </a:r>
          </a:p>
        </p:txBody>
      </p:sp>
      <p:sp>
        <p:nvSpPr>
          <p:cNvPr id="6" name="Text p1-txt4"/>
          <p:cNvSpPr txBox="1"/>
          <p:nvPr/>
        </p:nvSpPr>
        <p:spPr>
          <a:xfrm>
            <a:off x="4826000" y="1030097"/>
            <a:ext cx="426923" cy="1885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Helvetica"/>
                <a:ea typeface="Helvetica"/>
                <a:cs typeface="Helvetica"/>
              </a:rPr>
              <a:t>Status</a:t>
            </a:r>
          </a:p>
        </p:txBody>
      </p:sp>
      <p:sp>
        <p:nvSpPr>
          <p:cNvPr id="7" name="Text p1-txt5"/>
          <p:cNvSpPr txBox="1"/>
          <p:nvPr/>
        </p:nvSpPr>
        <p:spPr>
          <a:xfrm>
            <a:off x="711200" y="1360297"/>
            <a:ext cx="877176" cy="1885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Helvetica"/>
                <a:ea typeface="Helvetica"/>
                <a:cs typeface="Helvetica"/>
              </a:rPr>
              <a:t>Design review</a:t>
            </a:r>
          </a:p>
        </p:txBody>
      </p:sp>
      <p:sp>
        <p:nvSpPr>
          <p:cNvPr id="8" name="Text p1-txt6"/>
          <p:cNvSpPr txBox="1"/>
          <p:nvPr/>
        </p:nvSpPr>
        <p:spPr>
          <a:xfrm>
            <a:off x="2794000" y="1360297"/>
            <a:ext cx="465760" cy="1885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Helvetica"/>
                <a:ea typeface="Helvetica"/>
                <a:cs typeface="Helvetica"/>
              </a:rPr>
              <a:t>H. Park</a:t>
            </a:r>
          </a:p>
        </p:txBody>
      </p:sp>
      <p:sp>
        <p:nvSpPr>
          <p:cNvPr id="9" name="Text p1-txt7"/>
          <p:cNvSpPr txBox="1"/>
          <p:nvPr/>
        </p:nvSpPr>
        <p:spPr>
          <a:xfrm>
            <a:off x="4826000" y="1360297"/>
            <a:ext cx="333883" cy="1885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Helvetica"/>
                <a:ea typeface="Helvetica"/>
                <a:cs typeface="Helvetica"/>
              </a:rPr>
              <a:t>Done</a:t>
            </a:r>
          </a:p>
        </p:txBody>
      </p:sp>
      <p:sp>
        <p:nvSpPr>
          <p:cNvPr id="10" name="Text p1-txt8"/>
          <p:cNvSpPr txBox="1"/>
          <p:nvPr/>
        </p:nvSpPr>
        <p:spPr>
          <a:xfrm>
            <a:off x="711200" y="1690497"/>
            <a:ext cx="908329" cy="1885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Helvetica"/>
                <a:ea typeface="Helvetica"/>
                <a:cs typeface="Helvetica"/>
              </a:rPr>
              <a:t>Data migration</a:t>
            </a:r>
          </a:p>
        </p:txBody>
      </p:sp>
      <p:sp>
        <p:nvSpPr>
          <p:cNvPr id="11" name="Text p1-txt9"/>
          <p:cNvSpPr txBox="1"/>
          <p:nvPr/>
        </p:nvSpPr>
        <p:spPr>
          <a:xfrm>
            <a:off x="2794000" y="1690497"/>
            <a:ext cx="380543" cy="1885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Helvetica"/>
                <a:ea typeface="Helvetica"/>
                <a:cs typeface="Helvetica"/>
              </a:rPr>
              <a:t>J. Lee</a:t>
            </a:r>
          </a:p>
        </p:txBody>
      </p:sp>
      <p:sp>
        <p:nvSpPr>
          <p:cNvPr id="12" name="Text p1-txt10"/>
          <p:cNvSpPr txBox="1"/>
          <p:nvPr/>
        </p:nvSpPr>
        <p:spPr>
          <a:xfrm>
            <a:off x="4826000" y="1690497"/>
            <a:ext cx="698779" cy="1885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Helvetica"/>
                <a:ea typeface="Helvetica"/>
                <a:cs typeface="Helvetica"/>
              </a:rPr>
              <a:t>In progress</a:t>
            </a:r>
          </a:p>
        </p:txBody>
      </p:sp>
      <p:sp>
        <p:nvSpPr>
          <p:cNvPr id="13" name="Text p1-txt11"/>
          <p:cNvSpPr txBox="1"/>
          <p:nvPr/>
        </p:nvSpPr>
        <p:spPr>
          <a:xfrm>
            <a:off x="711200" y="2020697"/>
            <a:ext cx="1032662" cy="1885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Helvetica"/>
                <a:ea typeface="Helvetica"/>
                <a:cs typeface="Helvetica"/>
              </a:rPr>
              <a:t>Launch checklist</a:t>
            </a:r>
          </a:p>
        </p:txBody>
      </p:sp>
      <p:sp>
        <p:nvSpPr>
          <p:cNvPr id="14" name="Text p1-txt12"/>
          <p:cNvSpPr txBox="1"/>
          <p:nvPr/>
        </p:nvSpPr>
        <p:spPr>
          <a:xfrm>
            <a:off x="2794000" y="2020697"/>
            <a:ext cx="411416" cy="1885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Helvetica"/>
                <a:ea typeface="Helvetica"/>
                <a:cs typeface="Helvetica"/>
              </a:rPr>
              <a:t>S. Kim</a:t>
            </a:r>
          </a:p>
        </p:txBody>
      </p:sp>
      <p:sp>
        <p:nvSpPr>
          <p:cNvPr id="15" name="Text p1-txt13"/>
          <p:cNvSpPr txBox="1"/>
          <p:nvPr/>
        </p:nvSpPr>
        <p:spPr>
          <a:xfrm>
            <a:off x="4826000" y="2020697"/>
            <a:ext cx="496913" cy="1885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Helvetica"/>
                <a:ea typeface="Helvetica"/>
                <a:cs typeface="Helvetica"/>
              </a:rPr>
              <a:t>Blocked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