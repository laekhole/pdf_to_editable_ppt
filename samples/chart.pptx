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34"/>
          <p:cNvSpPr txBox="1"/>
          <p:nvPr/>
        </p:nvSpPr>
        <p:spPr>
          <a:xfrm>
            <a:off x="711200" y="484378"/>
            <a:ext cx="1678965" cy="2400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Monthly throughput</a:t>
            </a:r>
          </a:p>
        </p:txBody>
      </p:sp>
      <p:sp>
        <p:nvSpPr>
          <p:cNvPr id="4" name="Line p1-shp1"/>
          <p:cNvSpPr/>
          <p:nvPr/>
        </p:nvSpPr>
        <p:spPr>
          <a:xfrm flipV="1">
            <a:off x="1016000" y="1549400"/>
            <a:ext cx="1" cy="3175000"/>
          </a:xfrm>
          <a:prstGeom prst="line">
            <a:avLst/>
          </a:prstGeom>
          <a:noFill/>
          <a:ln w="12700" cap="flat" cmpd="sng" algn="ctr">
            <a:solidFill>
              <a:srgbClr val="4C4C5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5" name="Line p1-shp2"/>
          <p:cNvSpPr/>
          <p:nvPr/>
        </p:nvSpPr>
        <p:spPr>
          <a:xfrm>
            <a:off x="1016000" y="4724400"/>
            <a:ext cx="5588000" cy="1"/>
          </a:xfrm>
          <a:prstGeom prst="line">
            <a:avLst/>
          </a:prstGeom>
          <a:noFill/>
          <a:ln w="12700" cap="flat" cmpd="sng" algn="ctr">
            <a:solidFill>
              <a:srgbClr val="4C4C5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6" name="Line p1-shp3"/>
          <p:cNvSpPr/>
          <p:nvPr/>
        </p:nvSpPr>
        <p:spPr>
          <a:xfrm>
            <a:off x="1016000" y="4724400"/>
            <a:ext cx="5588000" cy="1"/>
          </a:xfrm>
          <a:prstGeom prst="line">
            <a:avLst/>
          </a:prstGeom>
          <a:noFill/>
          <a:ln w="12700" cap="flat" cmpd="sng" algn="ctr">
            <a:solidFill>
              <a:srgbClr val="E0E0E6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7" name="Line p1-shp4"/>
          <p:cNvSpPr/>
          <p:nvPr/>
        </p:nvSpPr>
        <p:spPr>
          <a:xfrm>
            <a:off x="965200" y="4724400"/>
            <a:ext cx="50800" cy="1"/>
          </a:xfrm>
          <a:prstGeom prst="line">
            <a:avLst/>
          </a:prstGeom>
          <a:noFill/>
          <a:ln w="12700" cap="flat" cmpd="sng" algn="ctr">
            <a:solidFill>
              <a:srgbClr val="4C4C5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8" name="Text p1-txt35"/>
          <p:cNvSpPr txBox="1"/>
          <p:nvPr/>
        </p:nvSpPr>
        <p:spPr>
          <a:xfrm>
            <a:off x="870610" y="4661916"/>
            <a:ext cx="5649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C4C59"/>
                </a:solidFill>
                <a:latin typeface="Helvetica"/>
                <a:ea typeface="Helvetica"/>
                <a:cs typeface="Helvetica"/>
              </a:rPr>
              <a:t>0</a:t>
            </a:r>
          </a:p>
        </p:txBody>
      </p:sp>
      <p:sp>
        <p:nvSpPr>
          <p:cNvPr id="9" name="Line p1-shp5"/>
          <p:cNvSpPr/>
          <p:nvPr/>
        </p:nvSpPr>
        <p:spPr>
          <a:xfrm>
            <a:off x="1016000" y="4089400"/>
            <a:ext cx="5588000" cy="1"/>
          </a:xfrm>
          <a:prstGeom prst="line">
            <a:avLst/>
          </a:prstGeom>
          <a:noFill/>
          <a:ln w="12700" cap="flat" cmpd="sng" algn="ctr">
            <a:solidFill>
              <a:srgbClr val="E0E0E6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0" name="Line p1-shp6"/>
          <p:cNvSpPr/>
          <p:nvPr/>
        </p:nvSpPr>
        <p:spPr>
          <a:xfrm>
            <a:off x="965200" y="4089400"/>
            <a:ext cx="50800" cy="1"/>
          </a:xfrm>
          <a:prstGeom prst="line">
            <a:avLst/>
          </a:prstGeom>
          <a:noFill/>
          <a:ln w="12700" cap="flat" cmpd="sng" algn="ctr">
            <a:solidFill>
              <a:srgbClr val="4C4C5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1" name="Text p1-txt36"/>
          <p:cNvSpPr txBox="1"/>
          <p:nvPr/>
        </p:nvSpPr>
        <p:spPr>
          <a:xfrm>
            <a:off x="814121" y="4026916"/>
            <a:ext cx="11297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C4C59"/>
                </a:solidFill>
                <a:latin typeface="Helvetica"/>
                <a:ea typeface="Helvetica"/>
                <a:cs typeface="Helvetica"/>
              </a:rPr>
              <a:t>20</a:t>
            </a:r>
          </a:p>
        </p:txBody>
      </p:sp>
      <p:sp>
        <p:nvSpPr>
          <p:cNvPr id="12" name="Line p1-shp7"/>
          <p:cNvSpPr/>
          <p:nvPr/>
        </p:nvSpPr>
        <p:spPr>
          <a:xfrm>
            <a:off x="1016000" y="3454400"/>
            <a:ext cx="5588000" cy="1"/>
          </a:xfrm>
          <a:prstGeom prst="line">
            <a:avLst/>
          </a:prstGeom>
          <a:noFill/>
          <a:ln w="12700" cap="flat" cmpd="sng" algn="ctr">
            <a:solidFill>
              <a:srgbClr val="E0E0E6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3" name="Line p1-shp8"/>
          <p:cNvSpPr/>
          <p:nvPr/>
        </p:nvSpPr>
        <p:spPr>
          <a:xfrm>
            <a:off x="965200" y="3454400"/>
            <a:ext cx="50800" cy="1"/>
          </a:xfrm>
          <a:prstGeom prst="line">
            <a:avLst/>
          </a:prstGeom>
          <a:noFill/>
          <a:ln w="12700" cap="flat" cmpd="sng" algn="ctr">
            <a:solidFill>
              <a:srgbClr val="4C4C5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4" name="Text p1-txt37"/>
          <p:cNvSpPr txBox="1"/>
          <p:nvPr/>
        </p:nvSpPr>
        <p:spPr>
          <a:xfrm>
            <a:off x="814121" y="3391916"/>
            <a:ext cx="11297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C4C59"/>
                </a:solidFill>
                <a:latin typeface="Helvetica"/>
                <a:ea typeface="Helvetica"/>
                <a:cs typeface="Helvetica"/>
              </a:rPr>
              <a:t>40</a:t>
            </a:r>
          </a:p>
        </p:txBody>
      </p:sp>
      <p:sp>
        <p:nvSpPr>
          <p:cNvPr id="15" name="Line p1-shp9"/>
          <p:cNvSpPr/>
          <p:nvPr/>
        </p:nvSpPr>
        <p:spPr>
          <a:xfrm>
            <a:off x="1016000" y="2819400"/>
            <a:ext cx="5588000" cy="1"/>
          </a:xfrm>
          <a:prstGeom prst="line">
            <a:avLst/>
          </a:prstGeom>
          <a:noFill/>
          <a:ln w="12700" cap="flat" cmpd="sng" algn="ctr">
            <a:solidFill>
              <a:srgbClr val="E0E0E6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6" name="Line p1-shp10"/>
          <p:cNvSpPr/>
          <p:nvPr/>
        </p:nvSpPr>
        <p:spPr>
          <a:xfrm>
            <a:off x="965200" y="2819400"/>
            <a:ext cx="50800" cy="1"/>
          </a:xfrm>
          <a:prstGeom prst="line">
            <a:avLst/>
          </a:prstGeom>
          <a:noFill/>
          <a:ln w="12700" cap="flat" cmpd="sng" algn="ctr">
            <a:solidFill>
              <a:srgbClr val="4C4C5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7" name="Text p1-txt38"/>
          <p:cNvSpPr txBox="1"/>
          <p:nvPr/>
        </p:nvSpPr>
        <p:spPr>
          <a:xfrm>
            <a:off x="814121" y="2756916"/>
            <a:ext cx="11297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C4C59"/>
                </a:solidFill>
                <a:latin typeface="Helvetica"/>
                <a:ea typeface="Helvetica"/>
                <a:cs typeface="Helvetica"/>
              </a:rPr>
              <a:t>60</a:t>
            </a:r>
          </a:p>
        </p:txBody>
      </p:sp>
      <p:sp>
        <p:nvSpPr>
          <p:cNvPr id="18" name="Line p1-shp11"/>
          <p:cNvSpPr/>
          <p:nvPr/>
        </p:nvSpPr>
        <p:spPr>
          <a:xfrm>
            <a:off x="1016000" y="2184400"/>
            <a:ext cx="5588000" cy="1"/>
          </a:xfrm>
          <a:prstGeom prst="line">
            <a:avLst/>
          </a:prstGeom>
          <a:noFill/>
          <a:ln w="12700" cap="flat" cmpd="sng" algn="ctr">
            <a:solidFill>
              <a:srgbClr val="E0E0E6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9" name="Line p1-shp12"/>
          <p:cNvSpPr/>
          <p:nvPr/>
        </p:nvSpPr>
        <p:spPr>
          <a:xfrm>
            <a:off x="965200" y="2184400"/>
            <a:ext cx="50800" cy="1"/>
          </a:xfrm>
          <a:prstGeom prst="line">
            <a:avLst/>
          </a:prstGeom>
          <a:noFill/>
          <a:ln w="12700" cap="flat" cmpd="sng" algn="ctr">
            <a:solidFill>
              <a:srgbClr val="4C4C5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20" name="Text p1-txt39"/>
          <p:cNvSpPr txBox="1"/>
          <p:nvPr/>
        </p:nvSpPr>
        <p:spPr>
          <a:xfrm>
            <a:off x="814121" y="2121916"/>
            <a:ext cx="11297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C4C59"/>
                </a:solidFill>
                <a:latin typeface="Helvetica"/>
                <a:ea typeface="Helvetica"/>
                <a:cs typeface="Helvetica"/>
              </a:rPr>
              <a:t>80</a:t>
            </a:r>
          </a:p>
        </p:txBody>
      </p:sp>
      <p:sp>
        <p:nvSpPr>
          <p:cNvPr id="21" name="Line p1-shp13"/>
          <p:cNvSpPr/>
          <p:nvPr/>
        </p:nvSpPr>
        <p:spPr>
          <a:xfrm>
            <a:off x="1016000" y="1549400"/>
            <a:ext cx="5588000" cy="1"/>
          </a:xfrm>
          <a:prstGeom prst="line">
            <a:avLst/>
          </a:prstGeom>
          <a:noFill/>
          <a:ln w="12700" cap="flat" cmpd="sng" algn="ctr">
            <a:solidFill>
              <a:srgbClr val="E0E0E6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22" name="Line p1-shp14"/>
          <p:cNvSpPr/>
          <p:nvPr/>
        </p:nvSpPr>
        <p:spPr>
          <a:xfrm>
            <a:off x="965200" y="1549400"/>
            <a:ext cx="50800" cy="1"/>
          </a:xfrm>
          <a:prstGeom prst="line">
            <a:avLst/>
          </a:prstGeom>
          <a:noFill/>
          <a:ln w="12700" cap="flat" cmpd="sng" algn="ctr">
            <a:solidFill>
              <a:srgbClr val="4C4C59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23" name="Text p1-txt40"/>
          <p:cNvSpPr txBox="1"/>
          <p:nvPr/>
        </p:nvSpPr>
        <p:spPr>
          <a:xfrm>
            <a:off x="757631" y="1486916"/>
            <a:ext cx="16946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C4C59"/>
                </a:solidFill>
                <a:latin typeface="Helvetica"/>
                <a:ea typeface="Helvetica"/>
                <a:cs typeface="Helvetica"/>
              </a:rPr>
              <a:t>100</a:t>
            </a:r>
          </a:p>
        </p:txBody>
      </p:sp>
      <p:sp>
        <p:nvSpPr>
          <p:cNvPr id="24" name="Rect p1-shp15"/>
          <p:cNvSpPr/>
          <p:nvPr/>
        </p:nvSpPr>
        <p:spPr>
          <a:xfrm>
            <a:off x="1168400" y="3644900"/>
            <a:ext cx="436562" cy="1079500"/>
          </a:xfrm>
          <a:prstGeom prst="rect">
            <a:avLst/>
          </a:prstGeom>
          <a:solidFill>
            <a:srgbClr val="3373C7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5" name="Text p1-txt41"/>
          <p:cNvSpPr txBox="1"/>
          <p:nvPr/>
        </p:nvSpPr>
        <p:spPr>
          <a:xfrm>
            <a:off x="1304792" y="4776216"/>
            <a:ext cx="16377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0404C"/>
                </a:solidFill>
                <a:latin typeface="Helvetica"/>
                <a:ea typeface="Helvetica"/>
                <a:cs typeface="Helvetica"/>
              </a:rPr>
              <a:t>Jan</a:t>
            </a:r>
          </a:p>
        </p:txBody>
      </p:sp>
      <p:sp>
        <p:nvSpPr>
          <p:cNvPr id="26" name="Rect p1-shp16"/>
          <p:cNvSpPr/>
          <p:nvPr/>
        </p:nvSpPr>
        <p:spPr>
          <a:xfrm>
            <a:off x="1828800" y="2882900"/>
            <a:ext cx="436562" cy="1841500"/>
          </a:xfrm>
          <a:prstGeom prst="rect">
            <a:avLst/>
          </a:prstGeom>
          <a:solidFill>
            <a:srgbClr val="3373C7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7" name="Text p1-txt42"/>
          <p:cNvSpPr txBox="1"/>
          <p:nvPr/>
        </p:nvSpPr>
        <p:spPr>
          <a:xfrm>
            <a:off x="1959553" y="4776216"/>
            <a:ext cx="17505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0404C"/>
                </a:solidFill>
                <a:latin typeface="Helvetica"/>
                <a:ea typeface="Helvetica"/>
                <a:cs typeface="Helvetica"/>
              </a:rPr>
              <a:t>Feb</a:t>
            </a:r>
          </a:p>
        </p:txBody>
      </p:sp>
      <p:sp>
        <p:nvSpPr>
          <p:cNvPr id="28" name="Rect p1-shp17"/>
          <p:cNvSpPr/>
          <p:nvPr/>
        </p:nvSpPr>
        <p:spPr>
          <a:xfrm>
            <a:off x="2489200" y="3232150"/>
            <a:ext cx="436562" cy="1492250"/>
          </a:xfrm>
          <a:prstGeom prst="rect">
            <a:avLst/>
          </a:prstGeom>
          <a:solidFill>
            <a:srgbClr val="3373C7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29" name="Text p1-txt43"/>
          <p:cNvSpPr txBox="1"/>
          <p:nvPr/>
        </p:nvSpPr>
        <p:spPr>
          <a:xfrm>
            <a:off x="2620004" y="4776216"/>
            <a:ext cx="17495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0404C"/>
                </a:solidFill>
                <a:latin typeface="Helvetica"/>
                <a:ea typeface="Helvetica"/>
                <a:cs typeface="Helvetica"/>
              </a:rPr>
              <a:t>Mar</a:t>
            </a:r>
          </a:p>
        </p:txBody>
      </p:sp>
      <p:sp>
        <p:nvSpPr>
          <p:cNvPr id="30" name="Rect p1-shp18"/>
          <p:cNvSpPr/>
          <p:nvPr/>
        </p:nvSpPr>
        <p:spPr>
          <a:xfrm>
            <a:off x="3149600" y="2438400"/>
            <a:ext cx="436562" cy="2286000"/>
          </a:xfrm>
          <a:prstGeom prst="rect">
            <a:avLst/>
          </a:prstGeom>
          <a:solidFill>
            <a:srgbClr val="3373C7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1" name="Text p1-txt44"/>
          <p:cNvSpPr txBox="1"/>
          <p:nvPr/>
        </p:nvSpPr>
        <p:spPr>
          <a:xfrm>
            <a:off x="3288836" y="4776216"/>
            <a:ext cx="15809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0404C"/>
                </a:solidFill>
                <a:latin typeface="Helvetica"/>
                <a:ea typeface="Helvetica"/>
                <a:cs typeface="Helvetica"/>
              </a:rPr>
              <a:t>Apr</a:t>
            </a:r>
          </a:p>
        </p:txBody>
      </p:sp>
      <p:sp>
        <p:nvSpPr>
          <p:cNvPr id="32" name="Rect p1-shp19"/>
          <p:cNvSpPr/>
          <p:nvPr/>
        </p:nvSpPr>
        <p:spPr>
          <a:xfrm>
            <a:off x="3810000" y="2660650"/>
            <a:ext cx="436562" cy="2063750"/>
          </a:xfrm>
          <a:prstGeom prst="rect">
            <a:avLst/>
          </a:prstGeom>
          <a:solidFill>
            <a:srgbClr val="3373C7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3" name="Text p1-txt45"/>
          <p:cNvSpPr txBox="1"/>
          <p:nvPr/>
        </p:nvSpPr>
        <p:spPr>
          <a:xfrm>
            <a:off x="3932320" y="4776216"/>
            <a:ext cx="191922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0404C"/>
                </a:solidFill>
                <a:latin typeface="Helvetica"/>
                <a:ea typeface="Helvetica"/>
                <a:cs typeface="Helvetica"/>
              </a:rPr>
              <a:t>May</a:t>
            </a:r>
          </a:p>
        </p:txBody>
      </p:sp>
      <p:sp>
        <p:nvSpPr>
          <p:cNvPr id="34" name="Rect p1-shp20"/>
          <p:cNvSpPr/>
          <p:nvPr/>
        </p:nvSpPr>
        <p:spPr>
          <a:xfrm>
            <a:off x="4470400" y="1930400"/>
            <a:ext cx="436562" cy="2794000"/>
          </a:xfrm>
          <a:prstGeom prst="rect">
            <a:avLst/>
          </a:prstGeom>
          <a:solidFill>
            <a:srgbClr val="3373C7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5" name="Text p1-txt46"/>
          <p:cNvSpPr txBox="1"/>
          <p:nvPr/>
        </p:nvSpPr>
        <p:spPr>
          <a:xfrm>
            <a:off x="4606792" y="4776216"/>
            <a:ext cx="163779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0404C"/>
                </a:solidFill>
                <a:latin typeface="Helvetica"/>
                <a:ea typeface="Helvetica"/>
                <a:cs typeface="Helvetica"/>
              </a:rPr>
              <a:t>Jun</a:t>
            </a:r>
          </a:p>
        </p:txBody>
      </p:sp>
      <p:sp>
        <p:nvSpPr>
          <p:cNvPr id="36" name="Rect p1-shp21"/>
          <p:cNvSpPr/>
          <p:nvPr/>
        </p:nvSpPr>
        <p:spPr>
          <a:xfrm>
            <a:off x="5130800" y="2216150"/>
            <a:ext cx="436562" cy="2508250"/>
          </a:xfrm>
          <a:prstGeom prst="rect">
            <a:avLst/>
          </a:prstGeom>
          <a:solidFill>
            <a:srgbClr val="3373C7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7" name="Text p1-txt47"/>
          <p:cNvSpPr txBox="1"/>
          <p:nvPr/>
        </p:nvSpPr>
        <p:spPr>
          <a:xfrm>
            <a:off x="5284159" y="4776216"/>
            <a:ext cx="12984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0404C"/>
                </a:solidFill>
                <a:latin typeface="Helvetica"/>
                <a:ea typeface="Helvetica"/>
                <a:cs typeface="Helvetica"/>
              </a:rPr>
              <a:t>Jul</a:t>
            </a:r>
          </a:p>
        </p:txBody>
      </p:sp>
      <p:sp>
        <p:nvSpPr>
          <p:cNvPr id="38" name="Rect p1-shp22"/>
          <p:cNvSpPr/>
          <p:nvPr/>
        </p:nvSpPr>
        <p:spPr>
          <a:xfrm>
            <a:off x="5791200" y="1739900"/>
            <a:ext cx="436562" cy="2984500"/>
          </a:xfrm>
          <a:prstGeom prst="rect">
            <a:avLst/>
          </a:prstGeom>
          <a:solidFill>
            <a:srgbClr val="3373C7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39" name="Text p1-txt48"/>
          <p:cNvSpPr txBox="1"/>
          <p:nvPr/>
        </p:nvSpPr>
        <p:spPr>
          <a:xfrm>
            <a:off x="5919108" y="4776216"/>
            <a:ext cx="180746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40404C"/>
                </a:solidFill>
                <a:latin typeface="Helvetica"/>
                <a:ea typeface="Helvetica"/>
                <a:cs typeface="Helvetica"/>
              </a:rPr>
              <a:t>Aug</a:t>
            </a:r>
          </a:p>
        </p:txBody>
      </p:sp>
      <p:sp>
        <p:nvSpPr>
          <p:cNvPr id="40" name="Freeform p1-shp23"/>
          <p:cNvSpPr/>
          <p:nvPr/>
        </p:nvSpPr>
        <p:spPr>
          <a:xfrm>
            <a:off x="1386681" y="1549400"/>
            <a:ext cx="4622800" cy="1905000"/>
          </a:xfrm>
          <a:custGeom>
            <a:avLst/>
            <a:gdLst/>
            <a:ahLst/>
            <a:cxnLst/>
            <a:rect l="0" t="0" r="4622800" b="1905000"/>
            <a:pathLst>
              <a:path w="4622800" h="1905000" fill="norm">
                <a:moveTo>
                  <a:pt x="0" y="1905000"/>
                </a:moveTo>
                <a:cubicBezTo>
                  <a:pt x="330200" y="1905000"/>
                  <a:pt x="330200" y="1143000"/>
                  <a:pt x="660400" y="1143000"/>
                </a:cubicBezTo>
                <a:cubicBezTo>
                  <a:pt x="990600" y="1143000"/>
                  <a:pt x="990600" y="1492250"/>
                  <a:pt x="1320800" y="1492250"/>
                </a:cubicBezTo>
                <a:cubicBezTo>
                  <a:pt x="1651000" y="1492250"/>
                  <a:pt x="1651000" y="698500"/>
                  <a:pt x="1981200" y="698500"/>
                </a:cubicBezTo>
                <a:cubicBezTo>
                  <a:pt x="2311400" y="698500"/>
                  <a:pt x="2311400" y="920750"/>
                  <a:pt x="2641600" y="920750"/>
                </a:cubicBezTo>
                <a:cubicBezTo>
                  <a:pt x="2971800" y="920750"/>
                  <a:pt x="2971800" y="190500"/>
                  <a:pt x="3302000" y="190500"/>
                </a:cubicBezTo>
                <a:cubicBezTo>
                  <a:pt x="3632200" y="190500"/>
                  <a:pt x="3632200" y="476250"/>
                  <a:pt x="3962400" y="476250"/>
                </a:cubicBezTo>
                <a:cubicBezTo>
                  <a:pt x="4292600" y="476250"/>
                  <a:pt x="4292600" y="0"/>
                  <a:pt x="4622800" y="0"/>
                </a:cubicBezTo>
              </a:path>
            </a:pathLst>
          </a:custGeom>
          <a:noFill/>
          <a:ln w="31750" cap="flat" cmpd="sng" algn="ctr">
            <a:solidFill>
              <a:srgbClr val="E6661A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41" name="Ellipse p1-shp24"/>
          <p:cNvSpPr/>
          <p:nvPr/>
        </p:nvSpPr>
        <p:spPr>
          <a:xfrm>
            <a:off x="1346041" y="3413760"/>
            <a:ext cx="81280" cy="81280"/>
          </a:xfrm>
          <a:prstGeom prst="ellipse">
            <a:avLst/>
          </a:prstGeom>
          <a:solidFill>
            <a:srgbClr val="E6661A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42" name="Ellipse p1-shp25"/>
          <p:cNvSpPr/>
          <p:nvPr/>
        </p:nvSpPr>
        <p:spPr>
          <a:xfrm>
            <a:off x="2006441" y="2651760"/>
            <a:ext cx="81280" cy="81280"/>
          </a:xfrm>
          <a:prstGeom prst="ellipse">
            <a:avLst/>
          </a:prstGeom>
          <a:solidFill>
            <a:srgbClr val="E6661A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43" name="Ellipse p1-shp26"/>
          <p:cNvSpPr/>
          <p:nvPr/>
        </p:nvSpPr>
        <p:spPr>
          <a:xfrm>
            <a:off x="2666841" y="3001010"/>
            <a:ext cx="81280" cy="81280"/>
          </a:xfrm>
          <a:prstGeom prst="ellipse">
            <a:avLst/>
          </a:prstGeom>
          <a:solidFill>
            <a:srgbClr val="E6661A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44" name="Ellipse p1-shp27"/>
          <p:cNvSpPr/>
          <p:nvPr/>
        </p:nvSpPr>
        <p:spPr>
          <a:xfrm>
            <a:off x="3327241" y="2207260"/>
            <a:ext cx="81280" cy="81280"/>
          </a:xfrm>
          <a:prstGeom prst="ellipse">
            <a:avLst/>
          </a:prstGeom>
          <a:solidFill>
            <a:srgbClr val="E6661A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45" name="Ellipse p1-shp28"/>
          <p:cNvSpPr/>
          <p:nvPr/>
        </p:nvSpPr>
        <p:spPr>
          <a:xfrm>
            <a:off x="3987641" y="2429510"/>
            <a:ext cx="81280" cy="81280"/>
          </a:xfrm>
          <a:prstGeom prst="ellipse">
            <a:avLst/>
          </a:prstGeom>
          <a:solidFill>
            <a:srgbClr val="E6661A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46" name="Ellipse p1-shp29"/>
          <p:cNvSpPr/>
          <p:nvPr/>
        </p:nvSpPr>
        <p:spPr>
          <a:xfrm>
            <a:off x="4648041" y="1699260"/>
            <a:ext cx="81280" cy="81280"/>
          </a:xfrm>
          <a:prstGeom prst="ellipse">
            <a:avLst/>
          </a:prstGeom>
          <a:solidFill>
            <a:srgbClr val="E6661A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47" name="Ellipse p1-shp30"/>
          <p:cNvSpPr/>
          <p:nvPr/>
        </p:nvSpPr>
        <p:spPr>
          <a:xfrm>
            <a:off x="5308441" y="1985010"/>
            <a:ext cx="81280" cy="81280"/>
          </a:xfrm>
          <a:prstGeom prst="ellipse">
            <a:avLst/>
          </a:prstGeom>
          <a:solidFill>
            <a:srgbClr val="E6661A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48" name="Ellipse p1-shp31"/>
          <p:cNvSpPr/>
          <p:nvPr/>
        </p:nvSpPr>
        <p:spPr>
          <a:xfrm>
            <a:off x="5968841" y="1508760"/>
            <a:ext cx="81280" cy="81280"/>
          </a:xfrm>
          <a:prstGeom prst="ellipse">
            <a:avLst/>
          </a:prstGeom>
          <a:solidFill>
            <a:srgbClr val="E6661A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49" name="Rect p1-shp32"/>
          <p:cNvSpPr/>
          <p:nvPr/>
        </p:nvSpPr>
        <p:spPr>
          <a:xfrm>
            <a:off x="4572000" y="1066800"/>
            <a:ext cx="152400" cy="101600"/>
          </a:xfrm>
          <a:prstGeom prst="rect">
            <a:avLst/>
          </a:prstGeom>
          <a:solidFill>
            <a:srgbClr val="3373C7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50" name="Text p1-txt49"/>
          <p:cNvSpPr txBox="1"/>
          <p:nvPr/>
        </p:nvSpPr>
        <p:spPr>
          <a:xfrm>
            <a:off x="4800600" y="1055243"/>
            <a:ext cx="552641" cy="1543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333340"/>
                </a:solidFill>
                <a:latin typeface="Helvetica"/>
                <a:ea typeface="Helvetica"/>
                <a:cs typeface="Helvetica"/>
              </a:rPr>
              <a:t>Completed</a:t>
            </a:r>
          </a:p>
        </p:txBody>
      </p:sp>
      <p:sp>
        <p:nvSpPr>
          <p:cNvPr id="51" name="Line p1-shp33"/>
          <p:cNvSpPr/>
          <p:nvPr/>
        </p:nvSpPr>
        <p:spPr>
          <a:xfrm>
            <a:off x="5715000" y="1117600"/>
            <a:ext cx="228600" cy="1"/>
          </a:xfrm>
          <a:prstGeom prst="line">
            <a:avLst/>
          </a:prstGeom>
          <a:noFill/>
          <a:ln w="31750" cap="flat" cmpd="sng" algn="ctr">
            <a:solidFill>
              <a:srgbClr val="E6661A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52" name="Text p1-txt50"/>
          <p:cNvSpPr txBox="1"/>
          <p:nvPr/>
        </p:nvSpPr>
        <p:spPr>
          <a:xfrm>
            <a:off x="6019800" y="1055243"/>
            <a:ext cx="298552" cy="1543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333340"/>
                </a:solidFill>
                <a:latin typeface="Helvetica"/>
                <a:ea typeface="Helvetica"/>
                <a:cs typeface="Helvetica"/>
              </a:rPr>
              <a:t>Trend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