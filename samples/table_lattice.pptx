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59"/>
          <p:cNvSpPr txBox="1"/>
          <p:nvPr/>
        </p:nvSpPr>
        <p:spPr>
          <a:xfrm>
            <a:off x="711200" y="484378"/>
            <a:ext cx="1630426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Quarterly summary</a:t>
            </a:r>
          </a:p>
        </p:txBody>
      </p:sp>
      <p:graphicFrame>
        <p:nvGraphicFramePr>
          <p:cNvPr id="4" name="Table p1-tbl1"/>
          <p:cNvGraphicFramePr>
            <a:graphicFrameLocks noGrp="1"/>
          </p:cNvGraphicFramePr>
          <p:nvPr/>
        </p:nvGraphicFramePr>
        <p:xfrm>
          <a:off x="711200" y="1168400"/>
          <a:ext cx="5334000" cy="15748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{2D5ABB26-0587-4C30-8999-92F81FD0307C}</a:tableStyleId>
              </a:tblPr>
              <a:tblGrid>
                <a:gridCol w="1524000"/>
                <a:gridCol w="1143000"/>
                <a:gridCol w="1143000"/>
                <a:gridCol w="1524000"/>
              </a:tblGrid>
              <a:tr h="330200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Region</a:t>
                      </a:r>
                    </a:p>
                  </a:txBody>
                  <a:tcPr marL="73453" marR="939228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2E4270"/>
                    </a:solidFill>
                  </a:tcPr>
                </a:tc>
                <a:tc gridSpan="2"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Revenue</a:t>
                      </a:r>
                    </a:p>
                  </a:txBody>
                  <a:tcPr marL="828574" marR="828574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2E4270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endParaRPr/>
                    </a:p>
                  </a:txBody>
                  <a:tcPr marL="25400" marR="25400" marT="12700" marB="12700" anchor="t">
                    <a:lnL>
                      <a:noFill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2E4270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/>
                          <a:ea typeface="Helvetica"/>
                          <a:cs typeface="Helvetica"/>
                        </a:rPr>
                        <a:t>Owner</a:t>
                      </a:r>
                    </a:p>
                  </a:txBody>
                  <a:tcPr marL="73767" marR="980707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2E4270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endParaRPr/>
                    </a:p>
                  </a:txBody>
                  <a:tcPr marL="25400" marR="25400" marT="12700" marB="12700" anchor="t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Q1</a:t>
                      </a:r>
                    </a:p>
                  </a:txBody>
                  <a:tcPr marL="480014" marR="480014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Q2</a:t>
                      </a:r>
                    </a:p>
                  </a:txBody>
                  <a:tcPr marL="480014" marR="480014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E6EBF5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/>
                    </a:p>
                  </a:txBody>
                  <a:tcPr marL="25400" marR="25400" marT="12700" marB="12700" anchor="t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E6EBF5"/>
                    </a:solidFill>
                  </a:tcPr>
                </a:tc>
              </a:tr>
              <a:tr h="304800">
                <a:tc rowSpan="2"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APAC</a:t>
                      </a:r>
                    </a:p>
                  </a:txBody>
                  <a:tcPr marL="74062" marR="1022507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1,240</a:t>
                      </a:r>
                    </a:p>
                  </a:txBody>
                  <a:tcPr marL="725973" marR="73853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1,455</a:t>
                      </a:r>
                    </a:p>
                  </a:txBody>
                  <a:tcPr marL="725973" marR="73853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H. Park</a:t>
                      </a:r>
                    </a:p>
                  </a:txBody>
                  <a:tcPr marL="73855" marR="992854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noFill/>
                  </a:tcPr>
                </a:tc>
              </a:tr>
              <a:tr h="304800">
                <a:tc vMerge="1">
                  <a:txBody>
                    <a:bodyPr wrap="square"/>
                    <a:lstStyle/>
                    <a:p>
                      <a:endParaRPr/>
                    </a:p>
                  </a:txBody>
                  <a:tcPr marL="25400" marR="25400" marT="12700" marB="12700" anchor="t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980</a:t>
                      </a:r>
                    </a:p>
                  </a:txBody>
                  <a:tcPr marL="839404" marR="74813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1,102</a:t>
                      </a:r>
                    </a:p>
                  </a:txBody>
                  <a:tcPr marL="725973" marR="73853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J. Lee</a:t>
                      </a:r>
                    </a:p>
                  </a:txBody>
                  <a:tcPr marL="74410" marR="1075966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noFill/>
                  </a:tcPr>
                </a:tc>
              </a:tr>
              <a:tr h="330200"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Total</a:t>
                      </a:r>
                    </a:p>
                  </a:txBody>
                  <a:tcPr marL="74491" marR="1089067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F5E6B8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2,220</a:t>
                      </a:r>
                    </a:p>
                  </a:txBody>
                  <a:tcPr marL="725973" marR="73853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F5E6B8"/>
                    </a:solidFill>
                  </a:tcPr>
                </a:tc>
                <a:tc>
                  <a:txBody>
                    <a:bodyPr wrap="square" lIns="0" tIns="0" rIns="0" bIns="0" anchor="ctr" rtlCol="0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A1A26"/>
                          </a:solidFill>
                          <a:latin typeface="Helvetica"/>
                          <a:ea typeface="Helvetica"/>
                          <a:cs typeface="Helvetica"/>
                        </a:rPr>
                        <a:t>2,557</a:t>
                      </a:r>
                    </a:p>
                  </a:txBody>
                  <a:tcPr marL="725973" marR="73853" marT="0" marB="0" anchor="ctr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F5E6B8"/>
                    </a:solidFill>
                  </a:tcPr>
                </a:tc>
                <a:tc>
                  <a:txBody>
                    <a:bodyPr wrap="square"/>
                    <a:lstStyle/>
                    <a:p>
                      <a:endParaRPr/>
                    </a:p>
                  </a:txBody>
                  <a:tcPr marL="25400" marR="25400" marT="12700" marB="12700" anchor="t">
                    <a:lnL w="12700" cap="flat" cmpd="sng" algn="ctr">
                      <a:solidFill>
                        <a:srgbClr val="40404C"/>
                      </a:solidFill>
                      <a:prstDash val="solid"/>
                    </a:lnL>
                    <a:lnR w="12700" cap="flat" cmpd="sng" algn="ctr">
                      <a:solidFill>
                        <a:srgbClr val="40404C"/>
                      </a:solidFill>
                      <a:prstDash val="solid"/>
                    </a:lnR>
                    <a:lnT w="12700" cap="flat" cmpd="sng" algn="ctr">
                      <a:solidFill>
                        <a:srgbClr val="40404C"/>
                      </a:solidFill>
                      <a:prstDash val="solid"/>
                    </a:lnT>
                    <a:lnB w="12700" cap="flat" cmpd="sng" algn="ctr">
                      <a:solidFill>
                        <a:srgbClr val="40404C"/>
                      </a:solidFill>
                      <a:prstDash val="solid"/>
                    </a:lnB>
                    <a:solidFill>
                      <a:srgbClr val="F5E6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