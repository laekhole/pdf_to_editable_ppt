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1"/>
          <p:cNvSpPr txBox="1"/>
          <p:nvPr/>
        </p:nvSpPr>
        <p:spPr>
          <a:xfrm>
            <a:off x="711200" y="637794"/>
            <a:ext cx="3759606" cy="377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D1F6B"/>
                </a:solidFill>
                <a:latin typeface="NanumGothic"/>
                <a:ea typeface="NanumGothic"/>
                <a:cs typeface="NanumGothic"/>
              </a:rPr>
              <a:t>2026 회의 자료 Meeting Deck</a:t>
            </a:r>
          </a:p>
        </p:txBody>
      </p:sp>
      <p:sp>
        <p:nvSpPr>
          <p:cNvPr id="4" name="Text p1-txt2"/>
          <p:cNvSpPr txBox="1"/>
          <p:nvPr/>
        </p:nvSpPr>
        <p:spPr>
          <a:xfrm>
            <a:off x="711200" y="1208659"/>
            <a:ext cx="2172106" cy="2914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anumGothic"/>
                <a:ea typeface="NanumGothic"/>
                <a:cs typeface="NanumGothic"/>
              </a:rPr>
              <a:t xml:space="preserve">프로젝트 </a:t>
            </a:r>
            <a:r>
              <a:rPr lang="en-US" sz="1300" b="1" dirty="0">
                <a:solidFill>
                  <a:srgbClr val="CC261A"/>
                </a:solidFill>
                <a:latin typeface="NanumGothic"/>
                <a:ea typeface="NanumGothic"/>
                <a:cs typeface="NanumGothic"/>
              </a:rPr>
              <a:t>Alpha</a:t>
            </a:r>
            <a:r>
              <a:rPr lang="en-US" sz="1300" dirty="0">
                <a:solidFill>
                  <a:srgbClr val="1A1A1A"/>
                </a:solidFill>
                <a:latin typeface="NanumGothic"/>
                <a:ea typeface="NanumGothic"/>
                <a:cs typeface="NanumGothic"/>
              </a:rPr>
              <a:t xml:space="preserve"> 진행률 </a:t>
            </a:r>
            <a:r>
              <a:rPr lang="en-US" sz="1700" b="1" dirty="0">
                <a:solidFill>
                  <a:srgbClr val="0D7333"/>
                </a:solidFill>
                <a:latin typeface="NanumGothic"/>
                <a:ea typeface="NanumGothic"/>
                <a:cs typeface="NanumGothic"/>
              </a:rPr>
              <a:t>87%</a:t>
            </a:r>
          </a:p>
        </p:txBody>
      </p:sp>
      <p:sp>
        <p:nvSpPr>
          <p:cNvPr id="5" name="Text p1-txt3"/>
          <p:cNvSpPr txBox="1"/>
          <p:nvPr/>
        </p:nvSpPr>
        <p:spPr>
          <a:xfrm>
            <a:off x="812800" y="1721104"/>
            <a:ext cx="2550414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NanumGothic"/>
                <a:ea typeface="NanumGothic"/>
                <a:cs typeface="NanumGothic"/>
              </a:rPr>
              <a:t>• 첫 번째 항목: Q1 산출물 정리</a:t>
            </a:r>
          </a:p>
          <a:p>
            <a:pPr algn="l"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NanumGothic"/>
                <a:ea typeface="NanumGothic"/>
                <a:cs typeface="NanumGothic"/>
              </a:rPr>
              <a:t>• Second item: milestone review</a:t>
            </a:r>
          </a:p>
          <a:p>
            <a:pPr algn="l"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NanumGothic"/>
                <a:ea typeface="NanumGothic"/>
                <a:cs typeface="NanumGothic"/>
              </a:rPr>
              <a:t>• 세 번째 항목 — risk register update</a:t>
            </a:r>
          </a:p>
        </p:txBody>
      </p:sp>
      <p:sp>
        <p:nvSpPr>
          <p:cNvPr id="6" name="Text p1-txt4"/>
          <p:cNvSpPr txBox="1"/>
          <p:nvPr/>
        </p:nvSpPr>
        <p:spPr>
          <a:xfrm>
            <a:off x="2520074" y="2772537"/>
            <a:ext cx="273225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40404C"/>
                </a:solidFill>
                <a:latin typeface="NanumGothic"/>
                <a:ea typeface="NanumGothic"/>
                <a:cs typeface="NanumGothic"/>
              </a:rPr>
              <a:t>이 문단은 여러 줄로 구성되어 있으며</a:t>
            </a:r>
          </a:p>
          <a:p>
            <a:pPr algn="ctr"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40404C"/>
                </a:solidFill>
                <a:latin typeface="NanumGothic"/>
                <a:ea typeface="NanumGothic"/>
                <a:cs typeface="NanumGothic"/>
              </a:rPr>
              <a:t>가운데 정렬되어 있습니다.</a:t>
            </a:r>
          </a:p>
          <a:p>
            <a:pPr algn="ctr"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40404C"/>
                </a:solidFill>
                <a:latin typeface="NanumGothic"/>
                <a:ea typeface="NanumGothic"/>
                <a:cs typeface="NanumGothic"/>
              </a:rPr>
              <a:t>It also mixes Latin script in the same block.</a:t>
            </a:r>
          </a:p>
        </p:txBody>
      </p:sp>
      <p:sp>
        <p:nvSpPr>
          <p:cNvPr id="7" name="Text p1-txt5"/>
          <p:cNvSpPr txBox="1"/>
          <p:nvPr/>
        </p:nvSpPr>
        <p:spPr>
          <a:xfrm>
            <a:off x="5776849" y="3569970"/>
            <a:ext cx="1284351" cy="501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40404C"/>
                </a:solidFill>
                <a:latin typeface="NanumGothic"/>
                <a:ea typeface="NanumGothic"/>
                <a:cs typeface="NanumGothic"/>
              </a:rPr>
              <a:t>Prepared by: Planning</a:t>
            </a:r>
          </a:p>
          <a:p>
            <a:pPr algn="r"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40404C"/>
                </a:solidFill>
                <a:latin typeface="NanumGothic"/>
                <a:ea typeface="NanumGothic"/>
                <a:cs typeface="NanumGothic"/>
              </a:rPr>
              <a:t>Revision 3</a:t>
            </a:r>
          </a:p>
          <a:p>
            <a:pPr algn="r"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40404C"/>
                </a:solidFill>
                <a:latin typeface="NanumGothic"/>
                <a:ea typeface="NanumGothic"/>
                <a:cs typeface="NanumGothic"/>
              </a:rPr>
              <a:t>2026-09-01</a:t>
            </a:r>
          </a:p>
        </p:txBody>
      </p:sp>
      <p:sp>
        <p:nvSpPr>
          <p:cNvPr id="8" name="Text p1-txt6"/>
          <p:cNvSpPr txBox="1"/>
          <p:nvPr/>
        </p:nvSpPr>
        <p:spPr>
          <a:xfrm rot="16200000">
            <a:off x="192608" y="5361000"/>
            <a:ext cx="1534770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661A80"/>
                </a:solidFill>
                <a:latin typeface="NanumGothic"/>
                <a:ea typeface="NanumGothic"/>
                <a:cs typeface="NanumGothic"/>
              </a:rPr>
              <a:t>세로 회전 텍스트 90</a:t>
            </a:r>
          </a:p>
        </p:txBody>
      </p:sp>
      <p:sp>
        <p:nvSpPr>
          <p:cNvPr id="9" name="Text p1-txt7"/>
          <p:cNvSpPr txBox="1"/>
          <p:nvPr/>
        </p:nvSpPr>
        <p:spPr>
          <a:xfrm rot="18900000">
            <a:off x="3918853" y="5576043"/>
            <a:ext cx="1583309" cy="378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1A598C"/>
                </a:solidFill>
                <a:latin typeface="NanumGothic"/>
                <a:ea typeface="NanumGothic"/>
                <a:cs typeface="NanumGothic"/>
              </a:rPr>
              <a:t>diagonal 45 대각선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