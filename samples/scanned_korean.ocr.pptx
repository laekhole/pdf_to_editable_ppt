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OCR (experimental) — engine: tesseract, 400 dpi, mean confidence 93/100</a:t>
            </a:r>
          </a:p>
          <a:p>
            <a:r>
              <a:t>Lines marked [?] scored below 60 and are shown in red on the slide.</a:t>
            </a:r>
          </a:p>
          <a:p/>
          <a:p>
            <a:r>
              <a:t>고속도로 유휴부지 태양광 발전사업 안전관리 계획</a:t>
            </a:r>
          </a:p>
          <a:p>
            <a:r>
              <a:t>한 국도로공사가 보유한 성토부의 가용자산을 활용하여</a:t>
            </a:r>
          </a:p>
          <a:p>
            <a:r>
              <a:t>신 재생에너지 생산 및 전기 보급에 기여한다.</a:t>
            </a:r>
          </a:p>
          <a:p>
            <a:r>
              <a:t>사 업방식은BOT(Build-Operate-Transfer)0|F 설치용량은10OMW,</a:t>
            </a:r>
          </a:p>
          <a:p>
            <a:r>
              <a:t>건설기간은 실시협약체결 후 18개월, 운영 기간은20년이다.</a:t>
            </a:r>
          </a:p>
          <a:p>
            <a:r>
              <a:t>Safety first: no work without a permit.</a:t>
            </a:r>
          </a:p>
          <a:p>
            <a:r>
              <a:t>구분 사고유형 대책방안</a:t>
            </a:r>
          </a:p>
          <a:p>
            <a:r>
              <a:t>풍수해 산사태 우수로 인한 토사 유출 및 사면 붕괴 배수로 정비 및 사면 보강</a:t>
            </a:r>
          </a:p>
          <a:p>
            <a:r>
              <a:t>낙뢰 낙뢰로 인한 설비 손상 피뢰침 설치 및 접지 점검</a:t>
            </a:r>
          </a:p>
          <a:p>
            <a:r>
              <a:t>화재 산불 연소 확산 소화기 비치 및 방화선확보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OCR banner"/>
          <p:cNvSpPr txBox="1"/>
          <p:nvPr/>
        </p:nvSpPr>
        <p:spPr>
          <a:xfrm>
            <a:off x="50800" y="25400"/>
            <a:ext cx="7670800" cy="127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dirty="0">
                <a:solidFill>
                  <a:srgbClr val="6B6B6B"/>
                </a:solidFill>
                <a:latin typeface="Malgun Gothic"/>
                <a:ea typeface="Malgun Gothic"/>
                <a:cs typeface="Malgun Gothic"/>
              </a:rPr>
              <a:t>OCR draft (experimental) — page 1 — tesseract, confidence 93/100</a:t>
            </a:r>
          </a:p>
        </p:txBody>
      </p:sp>
      <p:sp>
        <p:nvSpPr>
          <p:cNvPr id="4" name="OCR line 1"/>
          <p:cNvSpPr txBox="1"/>
          <p:nvPr/>
        </p:nvSpPr>
        <p:spPr>
          <a:xfrm>
            <a:off x="669798" y="524637"/>
            <a:ext cx="4855972" cy="62407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65" dirty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고속도로 유휴부지 태양광 발전사업 안전관리 계획</a:t>
            </a:r>
          </a:p>
        </p:txBody>
      </p:sp>
      <p:sp>
        <p:nvSpPr>
          <p:cNvPr id="5" name="OCR line 2"/>
          <p:cNvSpPr txBox="1"/>
          <p:nvPr/>
        </p:nvSpPr>
        <p:spPr>
          <a:xfrm>
            <a:off x="676656" y="1157859"/>
            <a:ext cx="3491230" cy="32232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43" dirty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한 국도로공사가 보유한 성토부의 가용자산을 활용하여</a:t>
            </a:r>
          </a:p>
        </p:txBody>
      </p:sp>
      <p:sp>
        <p:nvSpPr>
          <p:cNvPr id="6" name="OCR line 3"/>
          <p:cNvSpPr txBox="1"/>
          <p:nvPr/>
        </p:nvSpPr>
        <p:spPr>
          <a:xfrm>
            <a:off x="683514" y="1471041"/>
            <a:ext cx="2867152" cy="25374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7" dirty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신 재생에너지 생산 및 전기 보급에 기여한다.</a:t>
            </a:r>
          </a:p>
        </p:txBody>
      </p:sp>
      <p:sp>
        <p:nvSpPr>
          <p:cNvPr id="7" name="OCR line 4"/>
          <p:cNvSpPr txBox="1"/>
          <p:nvPr/>
        </p:nvSpPr>
        <p:spPr>
          <a:xfrm>
            <a:off x="683514" y="1721930"/>
            <a:ext cx="4423918" cy="29832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7" dirty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사 업방식은BOT(Build-Operate-Transfer)0|F 설치용량은10OMW,</a:t>
            </a:r>
          </a:p>
        </p:txBody>
      </p:sp>
      <p:sp>
        <p:nvSpPr>
          <p:cNvPr id="8" name="OCR line 5"/>
          <p:cNvSpPr txBox="1"/>
          <p:nvPr/>
        </p:nvSpPr>
        <p:spPr>
          <a:xfrm>
            <a:off x="694944" y="1998536"/>
            <a:ext cx="3891280" cy="3120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7" dirty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건설기간은 실시협약체결 후 18개월, 운영 기간은20년이다.</a:t>
            </a:r>
          </a:p>
        </p:txBody>
      </p:sp>
      <p:sp>
        <p:nvSpPr>
          <p:cNvPr id="9" name="OCR line 6"/>
          <p:cNvSpPr txBox="1"/>
          <p:nvPr/>
        </p:nvSpPr>
        <p:spPr>
          <a:xfrm>
            <a:off x="692658" y="2314575"/>
            <a:ext cx="2713990" cy="25374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48" dirty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Safety first: no work without a permit.</a:t>
            </a:r>
          </a:p>
        </p:txBody>
      </p:sp>
      <p:sp>
        <p:nvSpPr>
          <p:cNvPr id="10" name="OCR line 7"/>
          <p:cNvSpPr txBox="1"/>
          <p:nvPr/>
        </p:nvSpPr>
        <p:spPr>
          <a:xfrm>
            <a:off x="690372" y="2645474"/>
            <a:ext cx="1564132" cy="4491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7" dirty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구분 사고유형 대책방안</a:t>
            </a:r>
          </a:p>
        </p:txBody>
      </p:sp>
      <p:sp>
        <p:nvSpPr>
          <p:cNvPr id="11" name="OCR line 8"/>
          <p:cNvSpPr txBox="1"/>
          <p:nvPr/>
        </p:nvSpPr>
        <p:spPr>
          <a:xfrm>
            <a:off x="694944" y="2987802"/>
            <a:ext cx="4897120" cy="28803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7" dirty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풍수해 산사태 우수로 인한 토사 유출 및 사면 붕괴 배수로 정비 및 사면 보강</a:t>
            </a:r>
          </a:p>
        </p:txBody>
      </p:sp>
      <p:sp>
        <p:nvSpPr>
          <p:cNvPr id="12" name="OCR line 9"/>
          <p:cNvSpPr txBox="1"/>
          <p:nvPr/>
        </p:nvSpPr>
        <p:spPr>
          <a:xfrm>
            <a:off x="708660" y="3291269"/>
            <a:ext cx="340893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7" dirty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낙뢰 낙뢰로 인한 설비 손상 피뢰침 설치 및 접지 점검</a:t>
            </a:r>
          </a:p>
        </p:txBody>
      </p:sp>
      <p:sp>
        <p:nvSpPr>
          <p:cNvPr id="13" name="OCR line 10"/>
          <p:cNvSpPr txBox="1"/>
          <p:nvPr/>
        </p:nvSpPr>
        <p:spPr>
          <a:xfrm>
            <a:off x="699516" y="3575876"/>
            <a:ext cx="3107182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7" dirty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화재 산불 연소 확산 소화기 비치 및 방화선확보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